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[0:00-0:20]  Name, roll number, supervisor, one sentence on what it is:</a:t>
            </a:r>
          </a:p>
          <a:p>
            <a:r>
              <a:t>"A user speaks a question in English or Telugu and hears a scripture-grounded reply</a:t>
            </a:r>
          </a:p>
          <a:p>
            <a:r>
              <a:t>in a pastoral voice." Then move on - do not linger on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[0:20-1:30]  Lead with the one-liner - millions of downloads, zero conversation.</a:t>
            </a:r>
          </a:p>
          <a:p>
            <a:r>
              <a:t>Then the four gaps, one sentence each. Land on the 2 a.m. line: that is the whole</a:t>
            </a:r>
          </a:p>
          <a:p>
            <a:r>
              <a:t>motivation. Do not read the bullets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[1:30-2:20]  Do NOT read seven objectives. Group them as shown: app + backend,</a:t>
            </a:r>
          </a:p>
          <a:p>
            <a:r>
              <a:t>AI + voice, bilingual, money + deployment. Spend the saved time on the "Out" line -</a:t>
            </a:r>
          </a:p>
          <a:p>
            <a:r>
              <a:t>being explicit that there is no RAG is a credibility point, and an examiner may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[2:20-3:10]  The point is the empty column, not the competitor list. Say the four</a:t>
            </a:r>
          </a:p>
          <a:p>
            <a:r>
              <a:t>criteria once, then: "every one of these covers some of the four; none covers all</a:t>
            </a:r>
          </a:p>
          <a:p>
            <a:r>
              <a:t>four at once." That sentence is the UVP - deliver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[3:10-4:30]  The most technical slide - slow down. Walk the diagram top to bottom.</a:t>
            </a:r>
          </a:p>
          <a:p>
            <a:r>
              <a:t>Then land the service-key point: RLS is on but unpolicied and bypassed, so every</a:t>
            </a:r>
          </a:p>
          <a:p>
            <a:r>
              <a:t>user-scoped query must filter in code. That is an honest architectural weakness and</a:t>
            </a:r>
          </a:p>
          <a:p>
            <a:r>
              <a:t>naming it before the examiner does is worth more than hiding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[4:30-5:00]  Read the categories, not every item. Finish on the last line - 141 tests,</a:t>
            </a:r>
          </a:p>
          <a:p>
            <a:r>
              <a:t>all passing, gated in CI. Then &gt;&gt;&gt; CHECK THE CLOCK. You need seven clear minutes for</a:t>
            </a:r>
          </a:p>
          <a:p>
            <a:r>
              <a:t>the demo. If you are past 5:15, skip straight to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[5:00-12:00]  SEVEN MINUTES. This is the slide that decides the viva.</a:t>
            </a:r>
          </a:p>
          <a:p/>
          <a:p>
            <a:r>
              <a:t>Order matters: bilingual switch first (it is instant and visual), then Bible, then</a:t>
            </a:r>
          </a:p>
          <a:p>
            <a:r>
              <a:t>hymns, then the voice turn. START THE VOICE TURN EARLY - it takes ~28 seconds to</a:t>
            </a:r>
          </a:p>
          <a:p>
            <a:r>
              <a:t>come back. Fill that silence deliberately: "while that runs, note that every stage</a:t>
            </a:r>
          </a:p>
          <a:p>
            <a:r>
              <a:t>is being timed - I will show you the numbers in two minutes." Do not apologise for</a:t>
            </a:r>
          </a:p>
          <a:p>
            <a:r>
              <a:t>the wait; frame it as the thing you measured.</a:t>
            </a:r>
          </a:p>
          <a:p/>
          <a:p>
            <a:r>
              <a:t>Then paywall -&gt; UPI -&gt; badge. Then history. Then the console.</a:t>
            </a:r>
          </a:p>
          <a:p/>
          <a:p>
            <a:r>
              <a:t>FALLBACKS, in order: (1) if the network is slow, play the recorded demo from</a:t>
            </a:r>
          </a:p>
          <a:p>
            <a:r>
              <a:t>10-Demo-Video-Links.txt; (2) if the backend is down, the console has an offline</a:t>
            </a:r>
          </a:p>
          <a:p>
            <a:r>
              <a:t>demo mode - but SAY it is demo data; (3) if all else fails, walk the figures in</a:t>
            </a:r>
          </a:p>
          <a:p>
            <a:r>
              <a:t>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[12:00-13:15]  The most important slide after the demo. Do not soften it.</a:t>
            </a:r>
          </a:p>
          <a:p/>
          <a:p>
            <a:r>
              <a:t>Say plainly: "The requirement was five seconds. We measure 27.5. It is not met."</a:t>
            </a:r>
          </a:p>
          <a:p>
            <a:r>
              <a:t>Then the useful part: 71% is speech synthesis, so this is a TTS problem, not a</a:t>
            </a:r>
          </a:p>
          <a:p>
            <a:r>
              <a:t>model problem. And the probable cause is our own prompt - it specifies 2-4</a:t>
            </a:r>
          </a:p>
          <a:p>
            <a:r>
              <a:t>sentences and the model returns three paragraphs, so we are asking the synthesiser</a:t>
            </a:r>
          </a:p>
          <a:p>
            <a:r>
              <a:t>to render five times more text than designed.</a:t>
            </a:r>
          </a:p>
          <a:p/>
          <a:p>
            <a:r>
              <a:t>If asked about the "3-6 seconds" in the Phase 3 document: that number came from</a:t>
            </a:r>
          </a:p>
          <a:p>
            <a:r>
              <a:t>the admin console's DEMO FIXTURES, not a measurement. We found that while writing</a:t>
            </a:r>
          </a:p>
          <a:p>
            <a:r>
              <a:t>this report and corrected it. Own it - the correction is the result.</a:t>
            </a:r>
          </a:p>
          <a:p/>
          <a:p>
            <a:r>
              <a:t>Caveat honestly: sample is 2 turns. Enough for an order of magnitude, not a</a:t>
            </a:r>
          </a:p>
          <a:p>
            <a:r>
              <a:t>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[13:15-14:00]  Deliver these flatly and quickly - no hedging, no "but". A limitations</a:t>
            </a:r>
          </a:p>
          <a:p>
            <a:r>
              <a:t>slide read confidently reads as competence; one read apologetically reads as doubt.</a:t>
            </a:r>
          </a:p>
          <a:p/>
          <a:p>
            <a:r>
              <a:t>Do not soften the secrets line. If asked "why is a token in source control?" the</a:t>
            </a:r>
          </a:p>
          <a:p>
            <a:r>
              <a:t>honest answer is that it was a demo convenience that should have been removed, it</a:t>
            </a:r>
          </a:p>
          <a:p>
            <a:r>
              <a:t>is in the report's pre-submission checklist, and it will be rotated.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[14:00-14:45]  Conclusion in three lines, future work in five, then the closing line.</a:t>
            </a:r>
          </a:p>
          <a:p/>
          <a:p>
            <a:r>
              <a:t>The closer is the thesis of the whole project: "Most projects can tell you their app</a:t>
            </a:r>
          </a:p>
          <a:p>
            <a:r>
              <a:t>works. This one can tell you where its seconds go - and that is how it caught a claim</a:t>
            </a:r>
          </a:p>
          <a:p>
            <a:r>
              <a:t>it had been repeating about itself in three documents."</a:t>
            </a:r>
          </a:p>
          <a:p/>
          <a:p>
            <a:r>
              <a:t>&gt;&gt;&gt; STOP AT 14:45. Leave the closing line on screen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2617097" y="3556600"/>
            <a:ext cx="3597468" cy="4631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sz="3000" b="1"/>
              <a:t>TalkToJesus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/>
              <a:t>Presented by:</a:t>
            </a:r>
          </a:p>
          <a:p>
            <a:r>
              <a:rPr sz="1500"/>
              <a:t>Manish Rachakonda (2023EBCS668)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2655681" y="4821080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/>
              <a:t>Under the guidance of</a:t>
            </a:r>
          </a:p>
          <a:p>
            <a:r>
              <a:rPr sz="1500"/>
              <a:t>Swapnil Saurav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2543175" y="3923234"/>
            <a:ext cx="3520300" cy="35389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/>
              <a:t>BSc Computer Science (2025-2026)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22452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A Bilingual Voice-First AI Spiritual Companion</a:t>
            </a: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8339327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600"/>
              <a:t>Telugu Bible apps have millions of downloads - and zero conversation.</a:t>
            </a:r>
          </a:p>
          <a:p>
            <a:pPr lvl="1">
              <a:spcAft>
                <a:spcPts val="700"/>
              </a:spcAft>
            </a:pPr>
            <a:r>
              <a:rPr sz="1400"/>
              <a:t>One-way communication - they present content; none answer a question</a:t>
            </a:r>
          </a:p>
          <a:p>
            <a:pPr lvl="1">
              <a:spcAft>
                <a:spcPts val="700"/>
              </a:spcAft>
            </a:pPr>
            <a:r>
              <a:rPr sz="1400"/>
              <a:t>Access is gated on a person - a pastor must be available, scheduled, approachable</a:t>
            </a:r>
          </a:p>
          <a:p>
            <a:pPr lvl="1">
              <a:spcAft>
                <a:spcPts val="700"/>
              </a:spcAft>
            </a:pPr>
            <a:r>
              <a:rPr sz="1400"/>
              <a:t>Guidance is not situation-aware - a reading plan does not know what you are facing</a:t>
            </a:r>
          </a:p>
          <a:p>
            <a:pPr lvl="1">
              <a:spcAft>
                <a:spcPts val="700"/>
              </a:spcAft>
            </a:pPr>
            <a:r>
              <a:rPr sz="1400"/>
              <a:t>Language and culture - general AI assistants are not scripture-grounded, and their</a:t>
            </a:r>
          </a:p>
          <a:p>
            <a:pPr lvl="1">
              <a:spcAft>
                <a:spcPts val="700"/>
              </a:spcAft>
            </a:pPr>
            <a:r>
              <a:rPr sz="1400"/>
              <a:t>Telugu is not idiomatic - addressing a believer as "naa bidda" (నా బిడ్డ) is not</a:t>
            </a:r>
          </a:p>
          <a:p>
            <a:pPr lvl="1">
              <a:spcAft>
                <a:spcPts val="700"/>
              </a:spcAft>
            </a:pPr>
            <a:r>
              <a:rPr sz="1400"/>
              <a:t>a translation problem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600"/>
              <a:t>The gap: a believer with a question at 2 a.m., in Telugu, has nowhere to ask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8339327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600" b="1"/>
              <a:t>Objectives (PO1-PO7):</a:t>
            </a:r>
          </a:p>
          <a:p>
            <a:pPr lvl="1">
              <a:spcAft>
                <a:spcPts val="700"/>
              </a:spcAft>
            </a:pPr>
            <a:r>
              <a:rPr sz="1400"/>
              <a:t>PO1-PO2  Cross-platform app + secure backend with auth, conversation, subscriptions</a:t>
            </a:r>
          </a:p>
          <a:p>
            <a:pPr lvl="1">
              <a:spcAft>
                <a:spcPts val="700"/>
              </a:spcAft>
            </a:pPr>
            <a:r>
              <a:rPr sz="1400"/>
              <a:t>PO3-PO4  LLM for scripture-grounded replies; voice in and voice out</a:t>
            </a:r>
          </a:p>
          <a:p>
            <a:pPr lvl="1">
              <a:spcAft>
                <a:spcPts val="700"/>
              </a:spcAft>
            </a:pPr>
            <a:r>
              <a:rPr sz="1400"/>
              <a:t>PO5      Bilingual English/Telugu with culturally correct address</a:t>
            </a:r>
          </a:p>
          <a:p>
            <a:pPr lvl="1">
              <a:spcAft>
                <a:spcPts val="700"/>
              </a:spcAft>
            </a:pPr>
            <a:r>
              <a:rPr sz="1400"/>
              <a:t>PO6-PO7  Subscription monetisation; containerised deployment on GCP</a:t>
            </a:r>
          </a:p>
          <a:p>
            <a:pPr>
              <a:spcAft>
                <a:spcPts val="700"/>
              </a:spcAft>
            </a:pPr>
            <a:r>
              <a:rPr sz="1600" b="1"/>
              <a:t>Scope:</a:t>
            </a:r>
          </a:p>
          <a:p>
            <a:pPr lvl="1">
              <a:spcAft>
                <a:spcPts val="700"/>
              </a:spcAft>
            </a:pPr>
            <a:r>
              <a:rPr sz="1400"/>
              <a:t>In - conversation, Bible reader, hymn library, subscriptions, admin console</a:t>
            </a:r>
          </a:p>
          <a:p>
            <a:pPr lvl="1">
              <a:spcAft>
                <a:spcPts val="700"/>
              </a:spcAft>
            </a:pPr>
            <a:r>
              <a:rPr sz="1400"/>
              <a:t>Out - app store publication, video avatar, community features, RAG over scripture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/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8339327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600"/>
              <a:t>Conversational?  Scripture-grounded?  Telugu?  Voice-first?</a:t>
            </a:r>
          </a:p>
          <a:p>
            <a:pPr lvl="1">
              <a:spcAft>
                <a:spcPts val="700"/>
              </a:spcAft>
            </a:pPr>
            <a:r>
              <a:rPr sz="1400"/>
              <a:t>YouVersion Bible App - strong content, no dialogue</a:t>
            </a:r>
          </a:p>
          <a:p>
            <a:pPr lvl="1">
              <a:spcAft>
                <a:spcPts val="700"/>
              </a:spcAft>
            </a:pPr>
            <a:r>
              <a:rPr sz="1400"/>
              <a:t>Telugu Bible apps - Telugu and scripture, but static content only</a:t>
            </a:r>
          </a:p>
          <a:p>
            <a:pPr lvl="1">
              <a:spcAft>
                <a:spcPts val="700"/>
              </a:spcAft>
            </a:pPr>
            <a:r>
              <a:rPr sz="1400"/>
              <a:t>Pray.com - guided prayer and audio, no conversation, no Telugu</a:t>
            </a:r>
          </a:p>
          <a:p>
            <a:pPr lvl="1">
              <a:spcAft>
                <a:spcPts val="700"/>
              </a:spcAft>
            </a:pPr>
            <a:r>
              <a:rPr sz="1400"/>
              <a:t>General AI assistants - conversational, but not scripture-grounded, weak Telugu</a:t>
            </a:r>
          </a:p>
          <a:p>
            <a:pPr lvl="1">
              <a:spcAft>
                <a:spcPts val="700"/>
              </a:spcAft>
            </a:pPr>
            <a:r>
              <a:rPr sz="1400"/>
              <a:t>Glorify / Abide - devotional, no conversational AI, no Telugu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600"/>
              <a:t>Each covers some. None covers all four. That intersection is the contribution.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4892040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500" b="1"/>
              <a:t>Three tiers, one stateless API:</a:t>
            </a:r>
          </a:p>
          <a:p>
            <a:pPr lvl="1">
              <a:spcAft>
                <a:spcPts val="700"/>
              </a:spcAft>
            </a:pPr>
            <a:r>
              <a:rPr sz="1300"/>
              <a:t>Presentation - Flutter (iOS/Android, Riverpod) + the admin console</a:t>
            </a:r>
          </a:p>
          <a:p>
            <a:pPr lvl="1">
              <a:spcAft>
                <a:spcPts val="700"/>
              </a:spcAft>
            </a:pPr>
            <a:r>
              <a:rPr sz="1300"/>
              <a:t>Application - Express 5 / TypeScript, 28 endpoints, Cloud Run, scales from zero</a:t>
            </a:r>
          </a:p>
          <a:p>
            <a:pPr lvl="1">
              <a:spcAft>
                <a:spcPts val="700"/>
              </a:spcAft>
            </a:pPr>
            <a:r>
              <a:rPr sz="1300"/>
              <a:t>Data - Supabase PostgreSQL (8 tables) + OpenAI, ElevenLabs, Razorpay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500"/>
              <a:t>One decision drives the rest: the API holds a service-tier key that</a:t>
            </a:r>
          </a:p>
          <a:p>
            <a:pPr>
              <a:spcAft>
                <a:spcPts val="700"/>
              </a:spcAft>
            </a:pPr>
            <a:r>
              <a:rPr sz="1500"/>
              <a:t>bypasses row-level security - so authorization lives in application code.</a:t>
            </a:r>
          </a:p>
        </p:txBody>
      </p:sp>
      <p:pic>
        <p:nvPicPr>
          <p:cNvPr id="4" name="Picture 3" descr="fig-26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63040"/>
            <a:ext cx="3337560" cy="21493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8339327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400"/>
              <a:t>Language / Framework:  Dart + Flutter 3.38.6  |  TypeScript 5.9 + Express 5 on Node 20</a:t>
            </a:r>
          </a:p>
          <a:p>
            <a:pPr>
              <a:spcAft>
                <a:spcPts val="700"/>
              </a:spcAft>
            </a:pPr>
            <a:r>
              <a:rPr sz="1400"/>
              <a:t>State / Validation:    Riverpod 2.5  |  Zod 4.1</a:t>
            </a:r>
          </a:p>
          <a:p>
            <a:pPr>
              <a:spcAft>
                <a:spcPts val="700"/>
              </a:spcAft>
            </a:pPr>
            <a:r>
              <a:rPr sz="1400"/>
              <a:t>Database:              Supabase (PostgreSQL), 8 tables, no ORM</a:t>
            </a:r>
          </a:p>
          <a:p>
            <a:pPr>
              <a:spcAft>
                <a:spcPts val="700"/>
              </a:spcAft>
            </a:pPr>
            <a:r>
              <a:rPr sz="1400"/>
              <a:t>AI services:           OpenAI whisper-1 (STT) + gpt-4o (LLM)  |  ElevenLabs (TTS)</a:t>
            </a:r>
          </a:p>
          <a:p>
            <a:pPr>
              <a:spcAft>
                <a:spcPts val="700"/>
              </a:spcAft>
            </a:pPr>
            <a:r>
              <a:rPr sz="1400"/>
              <a:t>Payments / Identity:   Razorpay subscriptions  |  Google OAuth 2.0 -&gt; HS256 JWT</a:t>
            </a:r>
          </a:p>
          <a:p>
            <a:pPr>
              <a:spcAft>
                <a:spcPts val="700"/>
              </a:spcAft>
            </a:pPr>
            <a:r>
              <a:rPr sz="1400"/>
              <a:t>Infrastructure:        Docker, Cloud Build, Cloud Run (us-central1), Artifact Registry</a:t>
            </a:r>
          </a:p>
          <a:p>
            <a:pPr>
              <a:spcAft>
                <a:spcPts val="700"/>
              </a:spcAft>
            </a:pPr>
            <a:r>
              <a:rPr sz="1400"/>
              <a:t>Observability:         Winston, Sentry, PostHog, per-stage latency instrumentation</a:t>
            </a:r>
          </a:p>
          <a:p>
            <a:pPr>
              <a:spcAft>
                <a:spcPts val="700"/>
              </a:spcAft>
            </a:pPr>
            <a:r>
              <a:rPr sz="1400"/>
              <a:t>Quality:               Jest (66 tests) + flutter_test (75 tests) = 141, gated in 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4892040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400" b="1"/>
              <a:t>LIVE DEMO</a:t>
            </a:r>
          </a:p>
          <a:p>
            <a:pPr lvl="1">
              <a:spcAft>
                <a:spcPts val="700"/>
              </a:spcAft>
            </a:pPr>
            <a:r>
              <a:rPr sz="1200"/>
              <a:t>1. Sign in with Google</a:t>
            </a:r>
          </a:p>
          <a:p>
            <a:pPr lvl="1">
              <a:spcAft>
                <a:spcPts val="700"/>
              </a:spcAft>
            </a:pPr>
            <a:r>
              <a:rPr sz="1200"/>
              <a:t>2. Home screen - switch EN -&gt; TE (తెలుగు), every label changes, no restart</a:t>
            </a:r>
          </a:p>
          <a:p>
            <a:pPr lvl="1">
              <a:spcAft>
                <a:spcPts val="700"/>
              </a:spcAft>
            </a:pPr>
            <a:r>
              <a:rPr sz="1200"/>
              <a:t>3. Bible reader in Telugu - Genesis 1, then change translation</a:t>
            </a:r>
          </a:p>
          <a:p>
            <a:pPr lvl="1">
              <a:spcAft>
                <a:spcPts val="700"/>
              </a:spcAft>
            </a:pPr>
            <a:r>
              <a:rPr sz="1200"/>
              <a:t>4. Hymn library - 12 bundled hymns, plays with no network</a:t>
            </a:r>
          </a:p>
          <a:p>
            <a:pPr lvl="1">
              <a:spcAft>
                <a:spcPts val="700"/>
              </a:spcAft>
            </a:pPr>
            <a:r>
              <a:rPr sz="1200"/>
              <a:t>5. Speak a question - record, send, hear the reply</a:t>
            </a:r>
          </a:p>
          <a:p>
            <a:pPr lvl="1">
              <a:spcAft>
                <a:spcPts val="700"/>
              </a:spcAft>
            </a:pPr>
            <a:r>
              <a:rPr sz="1200"/>
              <a:t>6. Free tier exhausted -&gt; paywall -&gt; Razorpay UPI -&gt; badge turns active</a:t>
            </a:r>
          </a:p>
          <a:p>
            <a:pPr lvl="1">
              <a:spcAft>
                <a:spcPts val="700"/>
              </a:spcAft>
            </a:pPr>
            <a:r>
              <a:rPr sz="1200"/>
              <a:t>7. Conversation history - the full turn with scripture citations</a:t>
            </a:r>
          </a:p>
          <a:p>
            <a:pPr lvl="1">
              <a:spcAft>
                <a:spcPts val="700"/>
              </a:spcAft>
            </a:pPr>
            <a:r>
              <a:rPr sz="1200"/>
              <a:t>8. Admin console - live metrics, then the latency breakdown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400"/>
              <a:t>Fallback: the recorded demo, and the console's offline demo mode.</a:t>
            </a:r>
          </a:p>
        </p:txBody>
      </p:sp>
      <p:pic>
        <p:nvPicPr>
          <p:cNvPr id="4" name="Picture 3" descr="fig-03-home-engl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63040"/>
            <a:ext cx="1481328" cy="32209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4892040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400"/>
              <a:t>20/20 functional requirements implemented  |  141 automated tests, 0 failing</a:t>
            </a:r>
          </a:p>
          <a:p>
            <a:pPr>
              <a:spcAft>
                <a:spcPts val="700"/>
              </a:spcAft>
            </a:pPr>
            <a:r>
              <a:rPr sz="1400"/>
              <a:t>Full subscription flow verified end to end on device, real UPI payment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400" b="1"/>
              <a:t>MEASURED pipeline latency (live instance, p50):</a:t>
            </a:r>
          </a:p>
          <a:p>
            <a:pPr lvl="1">
              <a:spcAft>
                <a:spcPts val="700"/>
              </a:spcAft>
            </a:pPr>
            <a:r>
              <a:rPr sz="1200"/>
              <a:t>Speech to text (Whisper)      4,004 ms    15%</a:t>
            </a:r>
          </a:p>
          <a:p>
            <a:pPr lvl="1">
              <a:spcAft>
                <a:spcPts val="700"/>
              </a:spcAft>
            </a:pPr>
            <a:r>
              <a:rPr sz="1200"/>
              <a:t>AI response (GPT-4o)          3,471 ms    13%</a:t>
            </a:r>
          </a:p>
          <a:p>
            <a:pPr lvl="1">
              <a:spcAft>
                <a:spcPts val="700"/>
              </a:spcAft>
            </a:pPr>
            <a:r>
              <a:rPr sz="1200"/>
              <a:t>Text to speech (ElevenLabs)  19,618 ms    71%</a:t>
            </a:r>
          </a:p>
          <a:p>
            <a:pPr lvl="1">
              <a:spcAft>
                <a:spcPts val="700"/>
              </a:spcAft>
            </a:pPr>
            <a:r>
              <a:rPr sz="1200"/>
              <a:t>End to end                   27,457 ms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400"/>
              <a:t>NFR1 required 5 seconds. Not met - and the instrumentation is what found it.</a:t>
            </a:r>
          </a:p>
        </p:txBody>
      </p:sp>
      <p:pic>
        <p:nvPicPr>
          <p:cNvPr id="4" name="Picture 3" descr="fig-29-latency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63040"/>
            <a:ext cx="3291840" cy="1239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8339327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500"/>
              <a:t>Latency fails NFR1 by ~5x - dominated by speech synthesis</a:t>
            </a:r>
          </a:p>
          <a:p>
            <a:pPr>
              <a:spcAft>
                <a:spcPts val="700"/>
              </a:spcAft>
            </a:pPr>
            <a:r>
              <a:rPr sz="1500"/>
              <a:t>Authorization rests on application code - RLS is enabled but unpolicied and bypassed,</a:t>
            </a:r>
          </a:p>
          <a:p>
            <a:pPr lvl="1">
              <a:spcAft>
                <a:spcPts val="700"/>
              </a:spcAft>
            </a:pPr>
            <a:r>
              <a:rPr sz="1300"/>
              <a:t>and no automated test asserts isolation between users</a:t>
            </a:r>
          </a:p>
          <a:p>
            <a:pPr>
              <a:spcAft>
                <a:spcPts val="700"/>
              </a:spcAft>
            </a:pPr>
            <a:r>
              <a:rPr sz="1500"/>
              <a:t>Secrets committed - a long-lived token, PostHog key and Sentry DSN must be rotated</a:t>
            </a:r>
          </a:p>
          <a:p>
            <a:pPr>
              <a:spcAft>
                <a:spcPts val="700"/>
              </a:spcAft>
            </a:pPr>
            <a:r>
              <a:rPr sz="1500"/>
              <a:t>No rate limiting; CORS is unrestricted</a:t>
            </a:r>
          </a:p>
          <a:p>
            <a:pPr>
              <a:spcAft>
                <a:spcPts val="700"/>
              </a:spcAft>
            </a:pPr>
            <a:r>
              <a:rPr sz="1500"/>
              <a:t>Transcripts are personal data with no retention or deletion policy</a:t>
            </a:r>
          </a:p>
          <a:p>
            <a:pPr>
              <a:spcAft>
                <a:spcPts val="700"/>
              </a:spcAft>
            </a:pPr>
            <a:r>
              <a:rPr sz="1500"/>
              <a:t>Coverage stops at the service layer - no widget, integration or end-to-end tests</a:t>
            </a:r>
          </a:p>
          <a:p>
            <a:pPr>
              <a:spcAft>
                <a:spcPts val="700"/>
              </a:spcAft>
            </a:pPr>
            <a:r>
              <a:rPr sz="1500"/>
              <a:t>Three bundled hymns are CC BY-SA and need a credits screen the app does not have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417320"/>
            <a:ext cx="8339327" cy="4800600"/>
          </a:xfrm>
        </p:spPr>
        <p:txBody>
          <a:bodyPr wrap="square"/>
          <a:lstStyle/>
          <a:p>
            <a:pPr marL="0" indent="0">
              <a:spcAft>
                <a:spcPts val="700"/>
              </a:spcAft>
              <a:buNone/>
            </a:pPr>
            <a:r>
              <a:rPr sz="1400" b="1"/>
              <a:t>Conclusion:</a:t>
            </a:r>
          </a:p>
          <a:p>
            <a:pPr lvl="1">
              <a:spcAft>
                <a:spcPts val="700"/>
              </a:spcAft>
            </a:pPr>
            <a:r>
              <a:rPr sz="1200"/>
              <a:t>All 7 primary objectives met; 20/20 functional requirements implemented</a:t>
            </a:r>
          </a:p>
          <a:p>
            <a:pPr lvl="1">
              <a:spcAft>
                <a:spcPts val="700"/>
              </a:spcAft>
            </a:pPr>
            <a:r>
              <a:rPr sz="1200"/>
              <a:t>141 automated tests passing across both tiers, gated in CI</a:t>
            </a:r>
          </a:p>
          <a:p>
            <a:pPr lvl="1">
              <a:spcAft>
                <a:spcPts val="700"/>
              </a:spcAft>
            </a:pPr>
            <a:r>
              <a:rPr sz="1200"/>
              <a:t>Bilingual voice conversation working in Telugu with culturally correct address</a:t>
            </a:r>
          </a:p>
          <a:p>
            <a:pPr>
              <a:spcAft>
                <a:spcPts val="700"/>
              </a:spcAft>
            </a:pPr>
            <a:r>
              <a:rPr sz="1400" b="1"/>
              <a:t>Future Work:</a:t>
            </a:r>
          </a:p>
          <a:p>
            <a:pPr lvl="1">
              <a:spcAft>
                <a:spcPts val="700"/>
              </a:spcAft>
            </a:pPr>
            <a:r>
              <a:rPr sz="1200"/>
              <a:t>1. Tighten the persona prompt and re-measure - likely the bulk of the 19.6 s</a:t>
            </a:r>
          </a:p>
          <a:p>
            <a:pPr lvl="1">
              <a:spcAft>
                <a:spcPts val="700"/>
              </a:spcAft>
            </a:pPr>
            <a:r>
              <a:rPr sz="1200"/>
              <a:t>2. Stream synthesised audio so playback starts before synthesis finishes</a:t>
            </a:r>
          </a:p>
          <a:p>
            <a:pPr lvl="1">
              <a:spcAft>
                <a:spcPts val="700"/>
              </a:spcAft>
            </a:pPr>
            <a:r>
              <a:rPr sz="1200"/>
              <a:t>3. Add authorization-isolation tests - the most valuable missing test</a:t>
            </a:r>
          </a:p>
          <a:p>
            <a:pPr lvl="1">
              <a:spcAft>
                <a:spcPts val="700"/>
              </a:spcAft>
            </a:pPr>
            <a:r>
              <a:rPr sz="1200"/>
              <a:t>4. Rotate the committed secrets; add rate limiting; restrict CORS</a:t>
            </a:r>
          </a:p>
          <a:p>
            <a:pPr lvl="1">
              <a:spcAft>
                <a:spcPts val="700"/>
              </a:spcAft>
            </a:pPr>
            <a:r>
              <a:rPr sz="1200"/>
              <a:t>5. Data retention policy; about/credits screen for CC BY-SA compliance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400"/>
              <a:t>The system measures itself - and that is how it caught its own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