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[0:00-0:20]  20 seconds. Do not read the slide.</a:t>
            </a:r>
          </a:p>
          <a:p/>
          <a:p>
            <a:r>
              <a:t>"Talk to Jesus - a spiritual companion mobile application. I'm Manish Rachakonda,</a:t>
            </a:r>
          </a:p>
          <a:p>
            <a:r>
              <a:t>2023EBCS668, under the guidance of Swapnil Saurav."</a:t>
            </a:r>
          </a:p>
          <a:p/>
          <a:p>
            <a:r>
              <a:t>Move on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[0:20-1:30]  70 seconds.</a:t>
            </a:r>
          </a:p>
          <a:p/>
          <a:p>
            <a:r>
              <a:t>Open with the number, not the context:</a:t>
            </a:r>
          </a:p>
          <a:p>
            <a:r>
              <a:t>  "Telugu Bible apps have millions of downloads - and zero conversation."</a:t>
            </a:r>
          </a:p>
          <a:p/>
          <a:p>
            <a:r>
              <a:t>Then the four gaps, one line each. Do not elaborate.</a:t>
            </a:r>
          </a:p>
          <a:p/>
          <a:p>
            <a:r>
              <a:t>Close with:</a:t>
            </a:r>
          </a:p>
          <a:p>
            <a:r>
              <a:t>  "So the question I started with was: what if those millions of readers could</a:t>
            </a:r>
          </a:p>
          <a:p>
            <a:r>
              <a:t>   actually TALK to something that answers from scripture, in their own language?"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[1:30-2:20]  50 seconds.</a:t>
            </a:r>
          </a:p>
          <a:p/>
          <a:p>
            <a:r>
              <a:t>Do NOT read seven objectives. Group them:</a:t>
            </a:r>
          </a:p>
          <a:p/>
          <a:p>
            <a:r>
              <a:t>  "Seven objectives, in three groups: build the cross-platform app and the AI</a:t>
            </a:r>
          </a:p>
          <a:p>
            <a:r>
              <a:t>   voice pipeline; make it genuinely bilingual, English and Telugu; and make it</a:t>
            </a:r>
          </a:p>
          <a:p>
            <a:r>
              <a:t>   a real product - payments, cloud deployment, monitoring."</a:t>
            </a:r>
          </a:p>
          <a:p/>
          <a:p>
            <a:r>
              <a:t>Then one line on scope.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[2:20-3:10]  50 seconds.</a:t>
            </a:r>
          </a:p>
          <a:p/>
          <a:p>
            <a:r>
              <a:t>Walk the five rows fast - two seconds each. The point is the empty column.</a:t>
            </a:r>
          </a:p>
          <a:p/>
          <a:p>
            <a:r>
              <a:t>  "Every one of these is either static content or a general-purpose AI. Not one</a:t>
            </a:r>
          </a:p>
          <a:p>
            <a:r>
              <a:t>   is conversational, scripture-grounded, AND available in a regional language.</a:t>
            </a:r>
          </a:p>
          <a:p>
            <a:r>
              <a:t>   That empty column is the project."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[3:10-4:30]  80 seconds. The most technical slide - slow down here.</a:t>
            </a:r>
          </a:p>
          <a:p/>
          <a:p>
            <a:r>
              <a:t>  "Presentation tier: the Flutter app, and a web admin console. Application tier:</a:t>
            </a:r>
          </a:p>
          <a:p>
            <a:r>
              <a:t>   Node and Express on Google Cloud Run, auto-scaling from zero. Data tier:</a:t>
            </a:r>
          </a:p>
          <a:p>
            <a:r>
              <a:t>   Supabase Postgres, plus OpenAI, ElevenLabs and Razorpay."</a:t>
            </a:r>
          </a:p>
          <a:p/>
          <a:p>
            <a:r>
              <a:t>The one design point worth stating out loud:</a:t>
            </a:r>
          </a:p>
          <a:p/>
          <a:p>
            <a:r>
              <a:t>  "The API is completely stateless - every request carries its own JWT. That is</a:t>
            </a:r>
          </a:p>
          <a:p>
            <a:r>
              <a:t>   what lets Cloud Run scale to zero and back without any shared session state."</a:t>
            </a:r>
          </a:p>
          <a:p/>
          <a:p>
            <a:r>
              <a:t>If asked about CI/CD, point at the bottom line: push to main triggers Cloud Build,</a:t>
            </a:r>
          </a:p>
          <a:p>
            <a:r>
              <a:t>which tests, builds the image, and updates Cloud Run tagged with the commit SHA.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[4:30-5:00]  30 seconds. Do NOT read the table.</a:t>
            </a:r>
          </a:p>
          <a:p/>
          <a:p>
            <a:r>
              <a:t>  "Nineteen technologies across mobile, backend, AI, payments, cloud and</a:t>
            </a:r>
          </a:p>
          <a:p>
            <a:r>
              <a:t>   observability. Flutter, Node and TypeScript, Supabase, GPT-4o, Whisper,</a:t>
            </a:r>
          </a:p>
          <a:p>
            <a:r>
              <a:t>   ElevenLabs, Razorpay, Cloud Run, Sentry and PostHog. Everything on the slide."</a:t>
            </a:r>
          </a:p>
          <a:p/>
          <a:p>
            <a:r>
              <a:t>&gt;&gt;&gt; CHECK THE CLOCK. If it reads past 5:00, skip straight to the demo. &lt;&lt;&lt;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[5:00-12:00]  SEVEN MINUTES. This slide is a title card - switch to the</a:t>
            </a:r>
          </a:p>
          <a:p>
            <a:r>
              <a:t>device immediately. Do not read the bullets.</a:t>
            </a:r>
          </a:p>
          <a:p/>
          <a:p>
            <a:r>
              <a:t>Beat timings:</a:t>
            </a:r>
          </a:p>
          <a:p>
            <a:r>
              <a:t>  0:30  login            0:50  English voice      0:40  follow-up (memory)</a:t>
            </a:r>
          </a:p>
          <a:p>
            <a:r>
              <a:t>  0:50  Telugu           0:25  history            0:40  Bible + cache</a:t>
            </a:r>
          </a:p>
          <a:p>
            <a:r>
              <a:t>  0:25  music            0:25  free-tier wall     0:40  Razorpay</a:t>
            </a:r>
          </a:p>
          <a:p>
            <a:r>
              <a:t>  1:15  ADMIN CONSOLE    0:20  buffer</a:t>
            </a:r>
          </a:p>
          <a:p/>
          <a:p>
            <a:r>
              <a:t>Admin console order: stat cards -&gt; conversations/day -&gt; language split -&gt;</a:t>
            </a:r>
          </a:p>
          <a:p>
            <a:r>
              <a:t>LATENCY BREAKDOWN (the important one) -&gt; webhooks -&gt; add a song, refresh phone.</a:t>
            </a:r>
          </a:p>
          <a:p/>
          <a:p>
            <a:r>
              <a:t>On latency, say:</a:t>
            </a:r>
          </a:p>
          <a:p>
            <a:r>
              <a:t>  "This is where the three to six seconds actually goes: speech-to-text, the</a:t>
            </a:r>
          </a:p>
          <a:p>
            <a:r>
              <a:t>   model, then speech synthesis, p50 and p95 for each. The model is the biggest</a:t>
            </a:r>
          </a:p>
          <a:p>
            <a:r>
              <a:t>   slice, which is exactly why streaming is the first Capstone optimisation."</a:t>
            </a:r>
          </a:p>
          <a:p/>
          <a:p>
            <a:r>
              <a:t>If asked about the data: historical rows are seeded so the charts have shape;</a:t>
            </a:r>
          </a:p>
          <a:p>
            <a:r>
              <a:t>everything from the last ten minutes is real and was just written live.</a:t>
            </a:r>
          </a:p>
          <a:p/>
          <a:p>
            <a:r>
              <a:t>FALLBACKS: login stalls -&gt; tap title 5x for demo account. Noisy room -&gt; text</a:t>
            </a:r>
          </a:p>
          <a:p>
            <a:r>
              <a:t>input (~2s, no Whisper). Razorpay fails -&gt; play the recorded clip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[12:00-13:15]  75 seconds.</a:t>
            </a:r>
          </a:p>
          <a:p/>
          <a:p>
            <a:r>
              <a:t>Show a screenshot of the admin console here - real numbers beat bullet points.</a:t>
            </a:r>
          </a:p>
          <a:p/>
          <a:p>
            <a:r>
              <a:t>Say the numbers out loud; they are the evidence:</a:t>
            </a:r>
          </a:p>
          <a:p>
            <a:r>
              <a:t>  20 FRs, 62 + 75 tests passing, 3-6s voice / ~2s text, &lt;100ms cache,</a:t>
            </a:r>
          </a:p>
          <a:p>
            <a:r>
              <a:t>  4.4s cold / 0.4s warm, 100% of tampered webhook payloads rejected.</a:t>
            </a:r>
          </a:p>
          <a:p/>
          <a:p>
            <a:r>
              <a:t>Close on the last line - it is the strongest sentence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[13:15-14:00]  45 seconds. Be specific and be honest.</a:t>
            </a:r>
          </a:p>
          <a:p/>
          <a:p>
            <a:r>
              <a:t>The Study Guide explicitly says clarity on limitations is viewed positively.</a:t>
            </a:r>
          </a:p>
          <a:p>
            <a:r>
              <a:t>Volunteering a weakness before you are asked buys credibility for everything else</a:t>
            </a:r>
          </a:p>
          <a:p>
            <a:r>
              <a:t>you claimed on slide 8.</a:t>
            </a:r>
          </a:p>
          <a:p/>
          <a:p>
            <a:r>
              <a:t>Do not soften the last line. If a panel member opens tester_constants.dart and</a:t>
            </a:r>
          </a:p>
          <a:p>
            <a:r>
              <a:t>finds a committed JWT you did not mention, every other claim gets re-examined.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[14:00-14:45]  45 seconds.</a:t>
            </a:r>
          </a:p>
          <a:p/>
          <a:p>
            <a:r>
              <a:t>  "Study Project to production-ready system in two months: deployed backend,</a:t>
            </a:r>
          </a:p>
          <a:p>
            <a:r>
              <a:t>   bilingual voice AI, payments, and the operational tooling to see what it's doing."</a:t>
            </a:r>
          </a:p>
          <a:p/>
          <a:p>
            <a:r>
              <a:t>Then the roadmap, fast. Close:</a:t>
            </a:r>
          </a:p>
          <a:p/>
          <a:p>
            <a:r>
              <a:t>  "Same problem statement, more depth. Thank you - happy to take questions."</a:t>
            </a:r>
          </a:p>
          <a:p/>
          <a:p>
            <a:r>
              <a:t>&gt;&gt;&gt; STOP AT 14:45. Ending early is confident; being cut off is not. &lt;&lt;&lt;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2617097" y="3556600"/>
            <a:ext cx="3597468" cy="4631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9700FF"/>
                </a:solidFill>
              </a:rPr>
              <a:t>Talk to Jesus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933FF"/>
                </a:solidFill>
                <a:latin typeface="Aptos" panose="020B0004020202020204" pitchFamily="34" charset="0"/>
              </a:rPr>
              <a:t>Presented by: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Manish Rachakonda  (2023EBCS668)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655681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</a:rPr>
              <a:t>Under the guidance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Swapnil Saurav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2543175" y="3923234"/>
            <a:ext cx="3520300" cy="3538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B.Sc. Computer Science  (2025-26)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</a:pPr>
            <a:r>
              <a:rPr sz="1800" b="1">
                <a:solidFill>
                  <a:srgbClr val="1F2841"/>
                </a:solidFill>
              </a:rPr>
              <a:t>Telugu Bible apps have millions of downloads - and zero conversation.</a:t>
            </a:r>
          </a:p>
          <a:p>
            <a:pPr>
              <a:spcAft>
                <a:spcPts val="800"/>
              </a:spcAft>
            </a:pPr>
            <a:r>
              <a:rPr sz="1800" b="0"/>
              <a:t>One-way communication</a:t>
            </a:r>
          </a:p>
          <a:p>
            <a:pPr lvl="1">
              <a:spcAft>
                <a:spcPts val="800"/>
              </a:spcAft>
            </a:pPr>
            <a:r>
              <a:rPr sz="1600" b="0"/>
              <a:t>Existing apps deliver content, never counsel. You cannot ask them anything.</a:t>
            </a:r>
          </a:p>
          <a:p>
            <a:pPr>
              <a:spcAft>
                <a:spcPts val="800"/>
              </a:spcAft>
            </a:pPr>
            <a:r>
              <a:rPr sz="1800" b="0"/>
              <a:t>Limited accessibility</a:t>
            </a:r>
          </a:p>
          <a:p>
            <a:pPr lvl="1">
              <a:spcAft>
                <a:spcPts val="800"/>
              </a:spcAft>
            </a:pPr>
            <a:r>
              <a:rPr sz="1600" b="0"/>
              <a:t>A pastor means a visit, an appointment, and the nerve to ask.</a:t>
            </a:r>
          </a:p>
          <a:p>
            <a:pPr>
              <a:spcAft>
                <a:spcPts val="800"/>
              </a:spcAft>
            </a:pPr>
            <a:r>
              <a:rPr sz="1800" b="0"/>
              <a:t>No context-awareness</a:t>
            </a:r>
          </a:p>
          <a:p>
            <a:pPr lvl="1">
              <a:spcAft>
                <a:spcPts val="800"/>
              </a:spcAft>
            </a:pPr>
            <a:r>
              <a:rPr sz="1600" b="0"/>
              <a:t>People read scripture but struggle to apply it to their own situation.</a:t>
            </a:r>
          </a:p>
          <a:p>
            <a:pPr>
              <a:spcAft>
                <a:spcPts val="800"/>
              </a:spcAft>
            </a:pPr>
            <a:r>
              <a:rPr sz="1800" b="0"/>
              <a:t>Language and cultural barrier</a:t>
            </a:r>
          </a:p>
          <a:p>
            <a:pPr lvl="1">
              <a:spcAft>
                <a:spcPts val="800"/>
              </a:spcAft>
            </a:pPr>
            <a:r>
              <a:rPr sz="1600" b="0"/>
              <a:t>AI spiritual guidance in regional languages barely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</a:pPr>
            <a:r>
              <a:rPr sz="1700" b="1">
                <a:solidFill>
                  <a:srgbClr val="1F2841"/>
                </a:solidFill>
              </a:rPr>
              <a:t>Objectives (PO1-PO7)</a:t>
            </a:r>
          </a:p>
          <a:p>
            <a:pPr lvl="1">
              <a:spcAft>
                <a:spcPts val="800"/>
              </a:spcAft>
            </a:pPr>
            <a:r>
              <a:rPr sz="1500" b="0"/>
              <a:t>Cross-platform mobile app with AI voice conversation  (PO1, PO4)</a:t>
            </a:r>
          </a:p>
          <a:p>
            <a:pPr lvl="1">
              <a:spcAft>
                <a:spcPts val="800"/>
              </a:spcAft>
            </a:pPr>
            <a:r>
              <a:rPr sz="1500" b="0"/>
              <a:t>Secure backend: authentication, conversations, subscriptions  (PO2)</a:t>
            </a:r>
          </a:p>
          <a:p>
            <a:pPr lvl="1">
              <a:spcAft>
                <a:spcPts val="800"/>
              </a:spcAft>
            </a:pPr>
            <a:r>
              <a:rPr sz="1500" b="0"/>
              <a:t>Scripture-grounded responses from a large language model  (PO3)</a:t>
            </a:r>
          </a:p>
          <a:p>
            <a:pPr lvl="1">
              <a:spcAft>
                <a:spcPts val="800"/>
              </a:spcAft>
            </a:pPr>
            <a:r>
              <a:rPr sz="1500" b="0"/>
              <a:t>Genuine bilingual operation - English and Telugu  (PO5)</a:t>
            </a:r>
          </a:p>
          <a:p>
            <a:pPr lvl="1">
              <a:spcAft>
                <a:spcPts val="800"/>
              </a:spcAft>
            </a:pPr>
            <a:r>
              <a:rPr sz="1500" b="0"/>
              <a:t>Subscription monetisation with a free tier  (PO6)</a:t>
            </a:r>
          </a:p>
          <a:p>
            <a:pPr lvl="1">
              <a:spcAft>
                <a:spcPts val="800"/>
              </a:spcAft>
            </a:pPr>
            <a:r>
              <a:rPr sz="1500" b="0"/>
              <a:t>Containerised cloud deployment with auto-scaling  (PO7)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841"/>
                </a:solidFill>
              </a:rPr>
              <a:t>Scope</a:t>
            </a:r>
          </a:p>
          <a:p>
            <a:pPr lvl="1">
              <a:spcAft>
                <a:spcPts val="800"/>
              </a:spcAft>
            </a:pPr>
            <a:r>
              <a:rPr sz="1500" b="0"/>
              <a:t>In: app, backend, AI voice, bilingual, Bible, music, payments, cloud</a:t>
            </a:r>
          </a:p>
          <a:p>
            <a:pPr lvl="1">
              <a:spcAft>
                <a:spcPts val="800"/>
              </a:spcAft>
            </a:pPr>
            <a:r>
              <a:rPr sz="1500" b="0"/>
              <a:t>Out: 3+ languages, 3D avatar, community feed, offline AI, store release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</a:pPr>
            <a:r>
              <a:rPr sz="1600" b="0"/>
              <a:t>YouVersion Bible  -  reading, devotionals, audio Bible</a:t>
            </a:r>
          </a:p>
          <a:p>
            <a:pPr lvl="1">
              <a:spcAft>
                <a:spcPts val="800"/>
              </a:spcAft>
            </a:pPr>
            <a:r>
              <a:rPr sz="1400" b="0"/>
              <a:t>No conversation, no personalised guidance</a:t>
            </a:r>
          </a:p>
          <a:p>
            <a:pPr>
              <a:spcAft>
                <a:spcPts val="800"/>
              </a:spcAft>
            </a:pPr>
            <a:r>
              <a:rPr sz="1600" b="0"/>
              <a:t>Telugu Bible apps  -  scripture, songs, daily verse</a:t>
            </a:r>
          </a:p>
          <a:p>
            <a:pPr lvl="1">
              <a:spcAft>
                <a:spcPts val="800"/>
              </a:spcAft>
            </a:pPr>
            <a:r>
              <a:rPr sz="1400" b="0"/>
              <a:t>Static content only; no AI interaction</a:t>
            </a:r>
          </a:p>
          <a:p>
            <a:pPr>
              <a:spcAft>
                <a:spcPts val="800"/>
              </a:spcAft>
            </a:pPr>
            <a:r>
              <a:rPr sz="1600" b="0"/>
              <a:t>Pray.com  -  guided prayer, sleep stories</a:t>
            </a:r>
          </a:p>
          <a:p>
            <a:pPr lvl="1">
              <a:spcAft>
                <a:spcPts val="800"/>
              </a:spcAft>
            </a:pPr>
            <a:r>
              <a:rPr sz="1400" b="0"/>
              <a:t>No conversational AI, limited language support</a:t>
            </a:r>
          </a:p>
          <a:p>
            <a:pPr>
              <a:spcAft>
                <a:spcPts val="800"/>
              </a:spcAft>
            </a:pPr>
            <a:r>
              <a:rPr sz="1600" b="0"/>
              <a:t>ChatGPT (general purpose)  -  open-ended dialogue</a:t>
            </a:r>
          </a:p>
          <a:p>
            <a:pPr lvl="1">
              <a:spcAft>
                <a:spcPts val="800"/>
              </a:spcAft>
            </a:pPr>
            <a:r>
              <a:rPr sz="1400" b="0"/>
              <a:t>Not scripture-specialised, no voice persona, weak in Telugu</a:t>
            </a:r>
          </a:p>
          <a:p>
            <a:pPr>
              <a:spcAft>
                <a:spcPts val="800"/>
              </a:spcAft>
            </a:pPr>
            <a:r>
              <a:rPr sz="1600" b="0"/>
              <a:t>Glorify / Abide  -  meditation, prayer journals</a:t>
            </a:r>
          </a:p>
          <a:p>
            <a:pPr lvl="1">
              <a:spcAft>
                <a:spcPts val="800"/>
              </a:spcAft>
            </a:pPr>
            <a:r>
              <a:rPr sz="1400" b="0"/>
              <a:t>No dialogue, no Telugu support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841"/>
                </a:solidFill>
              </a:rPr>
              <a:t>The gap: nothing is conversational AND scripture-grounded AND regional-language AND voice-first.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95959"/>
                </a:solidFill>
              </a:rPr>
              <a:t>PRESENTATION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81328"/>
            <a:ext cx="832104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609344"/>
            <a:ext cx="1847088" cy="658368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Flutter Mobile App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Jesus  -  Bible  -  Music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1176" y="1609344"/>
            <a:ext cx="1847088" cy="658368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Voice + Text Input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record /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2856" y="1609344"/>
            <a:ext cx="1847088" cy="658368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Riverpod State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EN / TE switching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4536" y="1609344"/>
            <a:ext cx="1847088" cy="658368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Admin Console (Web)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served at /admin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95959"/>
                </a:solidFill>
              </a:rPr>
              <a:t>APPLICATION TIER  -  Google Cloud Run (us-central1), auto-scales from zero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807208"/>
            <a:ext cx="8321040" cy="11704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2926080"/>
            <a:ext cx="1847088" cy="60350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Auth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Google OAuth +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1176" y="2926080"/>
            <a:ext cx="1847088" cy="60350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Conversation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STT - LLM - TTS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2926080"/>
            <a:ext cx="1847088" cy="60350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Songs &amp; Bible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pagination /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74536" y="2926080"/>
            <a:ext cx="1847088" cy="60350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Subscriptions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Razorpay + webhooks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602736"/>
            <a:ext cx="8065008" cy="27432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FFFFFF"/>
                </a:solidFill>
              </a:rPr>
              <a:t>JWT middleware  |  Admin gate (is_admin)  |  Multer  |  Zod validation  |  Winston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33087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95959"/>
                </a:solidFill>
              </a:rPr>
              <a:t>DATA TIER  &amp;  EXTERNAL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379976"/>
            <a:ext cx="832104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" y="4507992"/>
            <a:ext cx="1847088" cy="658368"/>
          </a:xfrm>
          <a:prstGeom prst="roundRect">
            <a:avLst/>
          </a:prstGeom>
          <a:solidFill>
            <a:srgbClr val="3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Supabase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PostgreSQL + 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4507992"/>
            <a:ext cx="1847088" cy="658368"/>
          </a:xfrm>
          <a:prstGeom prst="roundRect">
            <a:avLst/>
          </a:prstGeom>
          <a:solidFill>
            <a:srgbClr val="3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OpenAI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Whisper + GPT-4o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4507992"/>
            <a:ext cx="1847088" cy="658368"/>
          </a:xfrm>
          <a:prstGeom prst="roundRect">
            <a:avLst/>
          </a:prstGeom>
          <a:solidFill>
            <a:srgbClr val="3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ElevenLabs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Multilingual v2 TTS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4536" y="4507992"/>
            <a:ext cx="1847088" cy="658368"/>
          </a:xfrm>
          <a:prstGeom prst="roundRect">
            <a:avLst/>
          </a:prstGeom>
          <a:solidFill>
            <a:srgbClr val="3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Razorpay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44068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841"/>
                </a:solidFill>
              </a:rPr>
              <a:t>Stateless API - every request carries its own JWT, which is what lets Cloud Run scale to zero and 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687568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CI/CD:  push to main  -&gt;  Cloud Build (tests, image, Artifact Registry)  -&gt;  Cloud Run revision tagged with the commit SHA.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Frontend</a:t>
            </a:r>
          </a:p>
          <a:p>
            <a:pPr lvl="1">
              <a:spcAft>
                <a:spcPts val="400"/>
              </a:spcAft>
            </a:pPr>
            <a:r>
              <a:rPr sz="1400" b="0"/>
              <a:t>Flutter 3.38 / Dart  -  Riverpod state  -  SQLite offline cache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Backend</a:t>
            </a:r>
          </a:p>
          <a:p>
            <a:pPr lvl="1">
              <a:spcAft>
                <a:spcPts val="400"/>
              </a:spcAft>
            </a:pPr>
            <a:r>
              <a:rPr sz="1400" b="0"/>
              <a:t>Node.js 20 LTS  -  Express 5  -  TypeScript 5.9  -  Zod  -  Winston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Data</a:t>
            </a:r>
          </a:p>
          <a:p>
            <a:pPr lvl="1">
              <a:spcAft>
                <a:spcPts val="400"/>
              </a:spcAft>
            </a:pPr>
            <a:r>
              <a:rPr sz="1400" b="0"/>
              <a:t>Supabase (PostgreSQL) with Row Level Security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AI services</a:t>
            </a:r>
          </a:p>
          <a:p>
            <a:pPr lvl="1">
              <a:spcAft>
                <a:spcPts val="400"/>
              </a:spcAft>
            </a:pPr>
            <a:r>
              <a:rPr sz="1400" b="0"/>
              <a:t>OpenAI Whisper (speech-to-text)  -  GPT-4o  -  ElevenLabs Multilingual v2 (TTS)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Payments &amp; cloud</a:t>
            </a:r>
          </a:p>
          <a:p>
            <a:pPr lvl="1">
              <a:spcAft>
                <a:spcPts val="400"/>
              </a:spcAft>
            </a:pPr>
            <a:r>
              <a:rPr sz="1400" b="0"/>
              <a:t>Razorpay subscriptions  -  Docker  -  Cloud Run  -  Cloud Build CI/CD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Observability &amp; testing</a:t>
            </a:r>
          </a:p>
          <a:p>
            <a:pPr lvl="1">
              <a:spcAft>
                <a:spcPts val="400"/>
              </a:spcAft>
            </a:pPr>
            <a:r>
              <a:rPr sz="1400" b="0"/>
              <a:t>Sentry  -  PostHog  -  Jest (62 tests)  -  flutter_test (75 tests)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Phone mirrored on the left  -  admin console on the right  -  both live</a:t>
            </a:r>
          </a:p>
          <a:p>
            <a:pPr lvl="1">
              <a:spcAft>
                <a:spcPts val="400"/>
              </a:spcAft>
            </a:pPr>
            <a:r>
              <a:rPr sz="1400" b="0"/>
              <a:t>Google sign-in  -&gt;  JWT issued by the backend</a:t>
            </a:r>
          </a:p>
          <a:p>
            <a:pPr lvl="1">
              <a:spcAft>
                <a:spcPts val="400"/>
              </a:spcAft>
            </a:pPr>
            <a:r>
              <a:rPr sz="1400" b="0"/>
              <a:t>English voice conversation  -&gt;  watch the counter move on the console</a:t>
            </a:r>
          </a:p>
          <a:p>
            <a:pPr lvl="1">
              <a:spcAft>
                <a:spcPts val="400"/>
              </a:spcAft>
            </a:pPr>
            <a:r>
              <a:rPr sz="1400" b="0"/>
              <a:t>Follow-up question with no context  -&gt;  multi-turn memory</a:t>
            </a:r>
          </a:p>
          <a:p>
            <a:pPr lvl="1">
              <a:spcAft>
                <a:spcPts val="400"/>
              </a:spcAft>
            </a:pPr>
            <a:r>
              <a:rPr sz="1400" b="0"/>
              <a:t>Switch to Telugu  -&gt;  whole interface and the reply both change</a:t>
            </a:r>
          </a:p>
          <a:p>
            <a:pPr lvl="1">
              <a:spcAft>
                <a:spcPts val="400"/>
              </a:spcAft>
            </a:pPr>
            <a:r>
              <a:rPr sz="1400" b="0"/>
              <a:t>Conversation history  -&gt;  every session persisted</a:t>
            </a:r>
          </a:p>
          <a:p>
            <a:pPr lvl="1">
              <a:spcAft>
                <a:spcPts val="400"/>
              </a:spcAft>
            </a:pPr>
            <a:r>
              <a:rPr sz="1400" b="0"/>
              <a:t>Bible  -&gt;  first load from API, second from local cache (&lt;100ms)</a:t>
            </a:r>
          </a:p>
          <a:p>
            <a:pPr lvl="1">
              <a:spcAft>
                <a:spcPts val="400"/>
              </a:spcAft>
            </a:pPr>
            <a:r>
              <a:rPr sz="1400" b="0"/>
              <a:t>Music library  -&gt;  streamed from the backend</a:t>
            </a:r>
          </a:p>
          <a:p>
            <a:pPr lvl="1">
              <a:spcAft>
                <a:spcPts val="400"/>
              </a:spcAft>
            </a:pPr>
            <a:r>
              <a:rPr sz="1400" b="0"/>
              <a:t>Fourth conversation  -&gt;  402, free tier exhausted  -&gt;  Razorpay checkout</a:t>
            </a:r>
          </a:p>
          <a:p>
            <a:pPr lvl="1">
              <a:spcAft>
                <a:spcPts val="400"/>
              </a:spcAft>
            </a:pPr>
            <a:r>
              <a:rPr sz="1400" b="0"/>
              <a:t>Admin console  -&gt;  usage, language split, per-stage latency, webhooks</a:t>
            </a:r>
          </a:p>
          <a:p>
            <a:pPr lvl="1">
              <a:spcAft>
                <a:spcPts val="400"/>
              </a:spcAft>
            </a:pPr>
            <a:r>
              <a:rPr sz="1400" b="1">
                <a:solidFill>
                  <a:srgbClr val="1F2841"/>
                </a:solidFill>
              </a:rPr>
              <a:t>Add a song in the console  -&gt;  refresh the phone  -&gt;  it appears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1000"/>
              </a:spcAft>
            </a:pPr>
            <a:r>
              <a:rPr sz="1700" b="1">
                <a:solidFill>
                  <a:srgbClr val="1F2841"/>
                </a:solidFill>
              </a:rPr>
              <a:t>All 20 functional requirements (FR1-FR20) implemented and validated</a:t>
            </a:r>
          </a:p>
          <a:p>
            <a:pPr>
              <a:spcAft>
                <a:spcPts val="1000"/>
              </a:spcAft>
            </a:pPr>
            <a:r>
              <a:rPr sz="1700" b="0"/>
              <a:t>Automated tests:  62 backend (Jest)  +  75 frontend (flutter_test)  -  all passing</a:t>
            </a:r>
          </a:p>
          <a:p>
            <a:pPr>
              <a:spcAft>
                <a:spcPts val="1000"/>
              </a:spcAft>
            </a:pPr>
            <a:r>
              <a:rPr sz="1700" b="0"/>
              <a:t>Voice pipeline 3-6 s end to end;  text path approx. 2 s (no speech-to-text step)</a:t>
            </a:r>
          </a:p>
          <a:p>
            <a:pPr>
              <a:spcAft>
                <a:spcPts val="1000"/>
              </a:spcAft>
            </a:pPr>
            <a:r>
              <a:rPr sz="1700" b="0"/>
              <a:t>Bible verse load:  1-2 s first fetch  -&gt;  under 100 ms from local SQLite cache</a:t>
            </a:r>
          </a:p>
          <a:p>
            <a:pPr>
              <a:spcAft>
                <a:spcPts val="1000"/>
              </a:spcAft>
            </a:pPr>
            <a:r>
              <a:rPr sz="1700" b="0"/>
              <a:t>Cloud Run measured:  4.4 s cold start,  ~0.4 s warm  (scale-to-zero tradeoff)</a:t>
            </a:r>
          </a:p>
          <a:p>
            <a:pPr>
              <a:spcAft>
                <a:spcPts val="1000"/>
              </a:spcAft>
            </a:pPr>
            <a:r>
              <a:rPr sz="1700" b="0"/>
              <a:t>Razorpay webhooks:  8 event types,  HMAC SHA256 rejected 100% of tampered payloads</a:t>
            </a:r>
          </a:p>
          <a:p>
            <a:pPr>
              <a:spcAft>
                <a:spcPts val="1000"/>
              </a:spcAft>
            </a:pPr>
            <a:r>
              <a:rPr sz="1700" b="0"/>
              <a:t>Admin console surfaces live usage, EN/TE split, and per-stage latency (p50 / p95)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2841"/>
                </a:solidFill>
              </a:rPr>
              <a:t>Most projects can tell you their app works. This one can tell you where its seconds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</a:pPr>
            <a:r>
              <a:rPr sz="1500" b="1">
                <a:solidFill>
                  <a:srgbClr val="1F2841"/>
                </a:solidFill>
              </a:rPr>
              <a:t>Voice pipeline latency</a:t>
            </a:r>
          </a:p>
          <a:p>
            <a:pPr lvl="1">
              <a:spcAft>
                <a:spcPts val="400"/>
              </a:spcAft>
            </a:pPr>
            <a:r>
              <a:rPr sz="1300" b="0"/>
              <a:t>Three sequential external API calls. Streaming the model response is the fix - Capstone scope.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2841"/>
                </a:solidFill>
              </a:rPr>
              <a:t>Cloud Run cold starts</a:t>
            </a:r>
          </a:p>
          <a:p>
            <a:pPr lvl="1">
              <a:spcAft>
                <a:spcPts val="400"/>
              </a:spcAft>
            </a:pPr>
            <a:r>
              <a:rPr sz="1300" b="0"/>
              <a:t>Scale-to-zero costs 4.4 s on the first request. Minimum instances fix it, at a cost.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2841"/>
                </a:solidFill>
              </a:rPr>
              <a:t>Telugu transcription accuracy</a:t>
            </a:r>
          </a:p>
          <a:p>
            <a:pPr lvl="1">
              <a:spcAft>
                <a:spcPts val="400"/>
              </a:spcAft>
            </a:pPr>
            <a:r>
              <a:rPr sz="1300" b="0"/>
              <a:t>Degrades with background noise noticeably more than English does.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2841"/>
                </a:solidFill>
              </a:rPr>
              <a:t>Third-party quotas</a:t>
            </a:r>
          </a:p>
          <a:p>
            <a:pPr lvl="1">
              <a:spcAft>
                <a:spcPts val="400"/>
              </a:spcAft>
            </a:pPr>
            <a:r>
              <a:rPr sz="1300" b="0"/>
              <a:t>ElevenLabs character limits constrained how much load testing was possible.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2841"/>
                </a:solidFill>
              </a:rPr>
              <a:t>Stored conversation transcripts are personal data</a:t>
            </a:r>
          </a:p>
          <a:p>
            <a:pPr lvl="1">
              <a:spcAft>
                <a:spcPts val="400"/>
              </a:spcAft>
            </a:pPr>
            <a:r>
              <a:rPr sz="1300" b="0"/>
              <a:t>Logging is new. A retention and redaction policy is required work, not optional.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2841"/>
                </a:solidFill>
              </a:rPr>
              <a:t>Known security gaps: CORS is unrestricted, and a long-lived test token is committed.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Conclusion</a:t>
            </a:r>
          </a:p>
          <a:p>
            <a:pPr lvl="1">
              <a:spcAft>
                <a:spcPts val="400"/>
              </a:spcAft>
            </a:pPr>
            <a:r>
              <a:rPr sz="1400" b="0"/>
              <a:t>Study Project to a deployed, production-shaped system in two months.</a:t>
            </a:r>
          </a:p>
          <a:p>
            <a:pPr lvl="1">
              <a:spcAft>
                <a:spcPts val="400"/>
              </a:spcAft>
            </a:pPr>
            <a:r>
              <a:rPr sz="1400" b="0"/>
              <a:t>Bilingual voice AI, payments, cloud deployment, and the tooling to observe it.</a:t>
            </a:r>
          </a:p>
          <a:p>
            <a:pPr lvl="1">
              <a:spcAft>
                <a:spcPts val="400"/>
              </a:spcAft>
            </a:pPr>
            <a:r>
              <a:rPr sz="1400" b="0"/>
              <a:t>All 20 functional requirements met; 137 automated tests passing across both tiers.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Future Work  -  the 6-month Capstone</a:t>
            </a:r>
          </a:p>
          <a:p>
            <a:pPr lvl="1">
              <a:spcAft>
                <a:spcPts val="400"/>
              </a:spcAft>
            </a:pPr>
            <a:r>
              <a:rPr sz="1400" b="0"/>
              <a:t>Streaming responses to halve perceived latency</a:t>
            </a:r>
          </a:p>
          <a:p>
            <a:pPr lvl="1">
              <a:spcAft>
                <a:spcPts val="400"/>
              </a:spcAft>
            </a:pPr>
            <a:r>
              <a:rPr sz="1400" b="0"/>
              <a:t>Guided prayer mode and multi-day devotional plans</a:t>
            </a:r>
          </a:p>
          <a:p>
            <a:pPr lvl="1">
              <a:spcAft>
                <a:spcPts val="400"/>
              </a:spcAft>
            </a:pPr>
            <a:r>
              <a:rPr sz="1400" b="0"/>
              <a:t>Push notifications for daily verse and reminders</a:t>
            </a:r>
          </a:p>
          <a:p>
            <a:pPr lvl="1">
              <a:spcAft>
                <a:spcPts val="400"/>
              </a:spcAft>
            </a:pPr>
            <a:r>
              <a:rPr sz="1400" b="0"/>
              <a:t>Additional regional languages beyond Telugu</a:t>
            </a:r>
          </a:p>
          <a:p>
            <a:pPr lvl="1">
              <a:spcAft>
                <a:spcPts val="400"/>
              </a:spcAft>
            </a:pPr>
            <a:r>
              <a:rPr sz="1400" b="0"/>
              <a:t>Full accessibility compliance and Play Store publication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841"/>
                </a:solidFill>
              </a:rPr>
              <a:t>Same problem statement. More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